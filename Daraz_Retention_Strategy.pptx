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3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30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24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3840480" cy="3840480"/>
          </a:xfrm>
          <a:prstGeom prst="ellipse">
            <a:avLst/>
          </a:prstGeom>
          <a:solidFill>
            <a:srgbClr val="F85606">
              <a:alpha val="9000"/>
            </a:srgbClr>
          </a:solidFill>
          <a:ln w="12700">
            <a:solidFill>
              <a:srgbClr val="F85606">
                <a:alpha val="9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3200400"/>
            <a:ext cx="1097280" cy="1097280"/>
          </a:xfrm>
          <a:prstGeom prst="ellipse">
            <a:avLst/>
          </a:prstGeom>
          <a:solidFill>
            <a:srgbClr val="F85606">
              <a:alpha val="20000"/>
            </a:srgbClr>
          </a:solidFill>
          <a:ln w="12700">
            <a:solidFill>
              <a:srgbClr val="F85606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CASE STUDY  ·  DARAZ BANGLADESH  ·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One-Time Buyers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Loyal Customers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three-solution growth &amp; monetization strategy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reverse 70% first-buyer churn on Daraz Bangladesh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3200400" cy="36576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Peers BD  ·  Case Competition 2.0  ·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PROBLEM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70% First-Buyer Churn Problem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606040" cy="251460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0" b="1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7400" dirty="0"/>
          </a:p>
        </p:txBody>
      </p:sp>
      <p:sp>
        <p:nvSpPr>
          <p:cNvPr id="7" name="Shape 5"/>
          <p:cNvSpPr/>
          <p:nvPr/>
        </p:nvSpPr>
        <p:spPr>
          <a:xfrm>
            <a:off x="685800" y="2560320"/>
            <a:ext cx="2148840" cy="36576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33472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first-time buyers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return to Daraz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a successful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transaction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70432"/>
            <a:ext cx="1828800" cy="251460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70432"/>
            <a:ext cx="18288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298448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FLOOR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01568" y="1664208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401568" y="2542032"/>
            <a:ext cx="16093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Daraz's implied retention vs 45–55% best-in-class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57800" y="1170432"/>
            <a:ext cx="1828800" cy="251460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57800" y="1170432"/>
            <a:ext cx="1828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67528" y="1298448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SURGE 2025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67528" y="1664208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5367528" y="2542032"/>
            <a:ext cx="16093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 fraud complaints in Bangladesh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0" y="1170432"/>
            <a:ext cx="1828800" cy="251460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0" y="1170432"/>
            <a:ext cx="1828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33488" y="1298448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HIGH-EFFORT CX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33488" y="1664208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7333488" y="2542032"/>
            <a:ext cx="16093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high-effort experiences drive disloyalty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31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  ·  Bangladesh e-commerce: US$7.5B (2024), 8.3% annual growth  ·  Daraz: 8M monthly active users, 64-district logistics network  ·  Online retail = only 3–5% of total retail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ROOT CAUSE DIAGNOSIS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Whys + Hypothesis Ranking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074920" cy="5760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7957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15568" y="1307592"/>
            <a:ext cx="36576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117957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don't first-time buyers return?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307592"/>
            <a:ext cx="36576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179576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experience failed their expectations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792224"/>
            <a:ext cx="5074920" cy="5760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8288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15568" y="1956816"/>
            <a:ext cx="36576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18288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 experience fail?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956816"/>
            <a:ext cx="36576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828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received did not match the listing shown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441448"/>
            <a:ext cx="5074920" cy="5760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47802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15568" y="2606040"/>
            <a:ext cx="36576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7008" y="2478024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product mismatch happen?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606040"/>
            <a:ext cx="36576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47802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seller quality control on the marketplace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090672"/>
            <a:ext cx="5074920" cy="5760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12724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15568" y="3255264"/>
            <a:ext cx="36576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008" y="312724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buyers recover from a bad experience?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0" y="3255264"/>
            <a:ext cx="36576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1272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take 27+ days; CS is unresponsive or dismissive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739896"/>
            <a:ext cx="5074920" cy="576072"/>
          </a:xfrm>
          <a:prstGeom prst="rect">
            <a:avLst/>
          </a:prstGeom>
          <a:solidFill>
            <a:srgbClr val="1A1A2E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7764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115568" y="3904488"/>
            <a:ext cx="36576" cy="256032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07008" y="37764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0" y="3904488"/>
            <a:ext cx="36576" cy="256032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77647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destroyed at delivery — no fast recourse available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06440" y="11155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RANKING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06440" y="14447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Gap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0" y="14447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06440" y="1773936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06440" y="1773936"/>
            <a:ext cx="277611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2249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Trust Collapse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46720" y="22494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806440" y="2578608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06440" y="2578608"/>
            <a:ext cx="2564892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06440" y="3054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Experience Failure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046720" y="30540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MED-HIGH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806440" y="3383280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06440" y="3383280"/>
            <a:ext cx="196138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06440" y="3858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Failure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046720" y="38587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806440" y="4187952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06440" y="4187952"/>
            <a:ext cx="1327709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4526280"/>
            <a:ext cx="8412480" cy="393192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53" name="Shape 51"/>
          <p:cNvSpPr/>
          <p:nvPr/>
        </p:nvSpPr>
        <p:spPr>
          <a:xfrm>
            <a:off x="365760" y="4526280"/>
            <a:ext cx="54864" cy="393192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4590288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finding: The largest drop (100% → 60%) occurs between delivery and product satisfaction — this is not a logistics gap, it is a marketplace trust and seller accountability gap.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274320"/>
            <a:ext cx="4114800" cy="4114800"/>
          </a:xfrm>
          <a:prstGeom prst="ellipse">
            <a:avLst/>
          </a:prstGeom>
          <a:solidFill>
            <a:srgbClr val="F85606">
              <a:alpha val="7000"/>
            </a:srgbClr>
          </a:solidFill>
          <a:ln w="12700">
            <a:solidFill>
              <a:srgbClr val="F85606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0"/>
            <a:ext cx="1828800" cy="1828800"/>
          </a:xfrm>
          <a:prstGeom prst="ellipse">
            <a:avLst/>
          </a:prstGeom>
          <a:solidFill>
            <a:srgbClr val="0D9488">
              <a:alpha val="13000"/>
            </a:srgbClr>
          </a:solidFill>
          <a:ln w="12700">
            <a:solidFill>
              <a:srgbClr val="0D9488">
                <a:alpha val="13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KEY INSIGHT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Daraz has a trust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destruction problem —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engagement one.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2743200" cy="45720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747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70% aren't dormant — they're actively refusing to return. Sending re-engagement emails to someone who was cheated doesn't fix retention; it accelerates unsubscribes. The solution must intervene at the moment of delivery, before any marketing message can be sent.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SOLUTION OPTIONS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Interlocking Solutions for Growth &amp; Monetization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2816352" cy="3794760"/>
          </a:xfrm>
          <a:prstGeom prst="rect">
            <a:avLst/>
          </a:prstGeom>
          <a:solidFill>
            <a:srgbClr val="F0FDFA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70432"/>
            <a:ext cx="281635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9844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TrustGuard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2313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Protection System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seller quality scoring, product verification badges, and a First-Order 24-hr Refund Guarantee — removing risk from the first purchase.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611880"/>
            <a:ext cx="2514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6850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38862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the root cause of churn by making the first purchase risk-free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279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448056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Seller Verified tier (BDT 500/mo) + optional Buyer Protection Add-on fee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1170432"/>
            <a:ext cx="2816352" cy="3794760"/>
          </a:xfrm>
          <a:prstGeom prst="rect">
            <a:avLst/>
          </a:prstGeom>
          <a:solidFill>
            <a:srgbClr val="FFF7ED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170432"/>
            <a:ext cx="2816352" cy="64008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55848" y="1298448"/>
            <a:ext cx="475488" cy="475488"/>
          </a:xfrm>
          <a:prstGeom prst="ellipse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55848" y="18745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355848" y="2313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Rescue Engine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55848" y="263347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NPS-triggered post-delivery branching: unhappy buyers enter a rescue flow (instant CS + refund); happy buyers get a personalized next-purchase nudge within 48 hrs.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55848" y="3611880"/>
            <a:ext cx="2514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36850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55848" y="38862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recovers the 70% churners and converts the happy 30% into loyalists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55848" y="4279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55848" y="448056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product recommendations in re-engagement flows + GMV commission uplift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44768" y="1170432"/>
            <a:ext cx="2816352" cy="3794760"/>
          </a:xfrm>
          <a:prstGeom prst="rect">
            <a:avLst/>
          </a:prstGeom>
          <a:solidFill>
            <a:srgbClr val="F1F5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44768" y="1170432"/>
            <a:ext cx="2816352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0216" y="1298448"/>
            <a:ext cx="475488" cy="475488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0216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0216" y="18745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Daraz Plus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300216" y="2313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Subscription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00216" y="263347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Monthly/annual subscription delivering free delivery on every order, priority CS, 21-day returns, and exclusive member-only deals across all categories.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0216" y="3611880"/>
            <a:ext cx="2514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0216" y="36850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00216" y="38862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habitual buying behaviour and platform stickiness (2.3x higher basket size)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00216" y="4279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00216" y="448056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revenue BDT 99–199/month + higher seller ad inventory demand from members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PRIORITIZATION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Scoring: Build Sequence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15568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Solution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Reach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(buyers/Q)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(1–3)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Confidence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Effort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(months)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RICE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85606"/>
                          </a:solidFill>
                        </a:rPr>
                        <a:t>ReConnect — Post-Purchase Engine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500K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80%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85606"/>
                          </a:solidFill>
                        </a:rPr>
                        <a:t>600</a:t>
                      </a:r>
                      <a:endParaRPr lang="en-US" sz="14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85606"/>
                          </a:solidFill>
                        </a:rPr>
                        <a:t>1st  *</a:t>
                      </a:r>
                      <a:endParaRPr lang="en-US" sz="12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TrustGuard — Buyer Protection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500K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75%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</a:rPr>
                        <a:t>375</a:t>
                      </a:r>
                      <a:endParaRPr lang="en-US" sz="14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2nd</a:t>
                      </a:r>
                      <a:endParaRPr lang="en-US" sz="12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Daraz Plus — Loyalty Subscription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200K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65%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</a:rPr>
                        <a:t>78</a:t>
                      </a:r>
                      <a:endParaRPr lang="en-US" sz="14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3rd</a:t>
                      </a:r>
                      <a:endParaRPr lang="en-US" sz="1200" dirty="0"/>
                    </a:p>
                  </a:txBody>
                  <a:tcPr marL="128016" marR="128016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749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RICE = (Reach × Impact × Confidence) ÷ Effort  ·  Reach = new first-time buyers per quarter  ·  Impact: 3 = massive lift, 1 = minimal</a:t>
            </a:r>
            <a:endParaRPr lang="en-US" sz="900" dirty="0"/>
          </a:p>
        </p:txBody>
      </p:sp>
      <p:sp>
        <p:nvSpPr>
          <p:cNvPr id="5" name="Shape 4"/>
          <p:cNvSpPr/>
          <p:nvPr/>
        </p:nvSpPr>
        <p:spPr>
          <a:xfrm>
            <a:off x="365760" y="4114800"/>
            <a:ext cx="8412480" cy="804672"/>
          </a:xfrm>
          <a:prstGeom prst="rect">
            <a:avLst/>
          </a:prstGeom>
          <a:solidFill>
            <a:srgbClr val="FFF7ED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4114800"/>
            <a:ext cx="64008" cy="804672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224528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Launch ReConnect first (RICE 600 — highest score, lowest effort, 2-week sprint). Simultaneously build TrustGuard as the structural root-cause fix (6 weeks). Roll out Daraz Plus in Phase 3 as the monetization capstone once the trust baseline has recovered.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RECOMMENDATION +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Delivery Plan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685800"/>
          </a:xfrm>
          <a:prstGeom prst="rect">
            <a:avLst/>
          </a:prstGeom>
          <a:solidFill>
            <a:srgbClr val="1A1A2E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64008" cy="685800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25296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Deploy ReConnect (post-delivery NPS + rescue engine) in 2 weeks. Build TrustGuard (product verification + First-Order Guarantee) in parallel over 6 weeks. Launch Daraz Plus subscription once trust infrastructure is live at Week 10.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697480" cy="301752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2697480" cy="502920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385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579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4871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2852928"/>
            <a:ext cx="2514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post-delivery NPS survey in app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328416"/>
            <a:ext cx="2514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rescue flow: unhappy buyer → instant 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3803904"/>
            <a:ext cx="2514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48-hr re-engagement for happy buyers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4279392"/>
            <a:ext cx="2514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vs. control cohort to measure lift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920240"/>
            <a:ext cx="2697480" cy="301752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920240"/>
            <a:ext cx="2697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9385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1579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24871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Fix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10128" y="2852928"/>
            <a:ext cx="2514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TrustGuard seller quality scoring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3328416"/>
            <a:ext cx="2514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24-hr Refund Guarantee live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3803904"/>
            <a:ext cx="2514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Seller badge visible on product listings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4279392"/>
            <a:ext cx="2514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incentive structure for quality compliance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1920240"/>
            <a:ext cx="2697480" cy="301752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1920240"/>
            <a:ext cx="269748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9385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21579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24871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44768" y="2852928"/>
            <a:ext cx="2514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Daraz Plus at BDT 99/month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44768" y="3328416"/>
            <a:ext cx="2514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Member-only deals + free delivery activated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44768" y="3803904"/>
            <a:ext cx="2514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recommendations in ReConnect flows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44768" y="4279392"/>
            <a:ext cx="2514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full solution set to all 64 districts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SUCCESS METRICS + BUSINESS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 It's Working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685800"/>
          </a:xfrm>
          <a:prstGeom prst="rect">
            <a:avLst/>
          </a:prstGeom>
          <a:solidFill>
            <a:srgbClr val="1A1A2E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64008" cy="685800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2529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  Increase 90-day repeat purchase rate from 30% to 50% within 6 months, while achieving post-purchase NPS &gt;= 45 (up from ~23)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01952"/>
            <a:ext cx="2697480" cy="260604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01952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11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Indicators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414016"/>
            <a:ext cx="2514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Post-delivery NPS (captured daily)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907792"/>
            <a:ext cx="2514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flow activation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3401568"/>
            <a:ext cx="2514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refund claim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895344"/>
            <a:ext cx="2514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 email open &amp; click 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901952"/>
            <a:ext cx="2697480" cy="260604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901952"/>
            <a:ext cx="2697480" cy="64008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011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Lagging Outcomes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10128" y="2414016"/>
            <a:ext cx="2514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repeat purchase 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2907792"/>
            <a:ext cx="2514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LTV (6-month cohort)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3401568"/>
            <a:ext cx="2514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Daraz Plus subscriber count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0128" y="3895344"/>
            <a:ext cx="2514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 from repeat buyers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1901952"/>
            <a:ext cx="2697480" cy="260604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901952"/>
            <a:ext cx="26974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011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Rail Metrics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44768" y="2414016"/>
            <a:ext cx="2514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GMV must not drop &gt; 5%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44768" y="2907792"/>
            <a:ext cx="2514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acquisition flat or rising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44768" y="3401568"/>
            <a:ext cx="2514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Daraz Plus monthly churn &lt; 15%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44768" y="3895344"/>
            <a:ext cx="2514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ticket volume must not increase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663440"/>
            <a:ext cx="8412480" cy="329184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7183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+5% retention lift = up to +75% profit increase (Bain &amp; Co.)  |  Subscribers spend 2.3x more per year  |  Verified sellers drive 18–22% higher conversion rates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457200"/>
            <a:ext cx="3200400" cy="3200400"/>
          </a:xfrm>
          <a:prstGeom prst="ellipse">
            <a:avLst/>
          </a:prstGeom>
          <a:solidFill>
            <a:srgbClr val="F85606">
              <a:alpha val="7000"/>
            </a:srgbClr>
          </a:solidFill>
          <a:ln w="12700">
            <a:solidFill>
              <a:srgbClr val="F85606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/  MONETIZATION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Streams, One Strategy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51560"/>
          </a:xfrm>
          <a:prstGeom prst="rect">
            <a:avLst/>
          </a:prstGeom>
          <a:solidFill>
            <a:srgbClr val="16213E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53312"/>
            <a:ext cx="6400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17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Verified Tier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7190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956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TrustGuard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1490472"/>
            <a:ext cx="36576" cy="777240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4630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pay BDT 500/month for Verified badge + priority listing. At 10K enrolled sellers = BDT 60M/year recurring.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1051560"/>
          </a:xfrm>
          <a:prstGeom prst="rect">
            <a:avLst/>
          </a:prstGeom>
          <a:solidFill>
            <a:srgbClr val="16213E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23744"/>
            <a:ext cx="64008" cy="1051560"/>
          </a:xfrm>
          <a:prstGeom prst="rect">
            <a:avLst/>
          </a:prstGeom>
          <a:solidFill>
            <a:srgbClr val="F85606"/>
          </a:solidFill>
          <a:ln w="12700">
            <a:solidFill>
              <a:srgbClr val="F856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587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Daraz Plus Subscription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28895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5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Subscription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31272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Daraz Plus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2660904"/>
            <a:ext cx="36576" cy="777240"/>
          </a:xfrm>
          <a:prstGeom prst="rect">
            <a:avLst/>
          </a:prstGeom>
          <a:solidFill>
            <a:srgbClr val="F85606">
              <a:alpha val="50000"/>
            </a:srgbClr>
          </a:solidFill>
          <a:ln w="12700">
            <a:solidFill>
              <a:srgbClr val="F85606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2633472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pay BDT 99–199/month. At 500K subscribers = BDT 594M–1.19B/year. Subscribers deliver 2.3x GMV per head.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694176"/>
            <a:ext cx="8412480" cy="1051560"/>
          </a:xfrm>
          <a:prstGeom prst="rect">
            <a:avLst/>
          </a:prstGeom>
          <a:solidFill>
            <a:srgbClr val="16213E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94176"/>
            <a:ext cx="64008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7581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Re-engagement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" y="40599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42976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ReConnect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49040" y="3831336"/>
            <a:ext cx="36576" cy="777240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0" y="3803904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Seller-paid sponsored slots inside rescue and recommendation flows. CPM model on a high-intent audience (post-purchase window).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3">
            <a:extLst>
              <a:ext uri="{FF2B5EF4-FFF2-40B4-BE49-F238E27FC236}">
                <a16:creationId xmlns:a16="http://schemas.microsoft.com/office/drawing/2014/main" id="{C7A776D9-E54C-4BF8-81C9-0876CDF29CA8}"/>
              </a:ext>
            </a:extLst>
          </p:cNvPr>
          <p:cNvSpPr/>
          <p:nvPr/>
        </p:nvSpPr>
        <p:spPr>
          <a:xfrm>
            <a:off x="3676650" y="2242566"/>
            <a:ext cx="28321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715071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1123</Words>
  <Application>Microsoft Office PowerPoint</Application>
  <PresentationFormat>On-screen Show (16:9)</PresentationFormat>
  <Paragraphs>185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Daraz: Retention &amp; Engagement Strategy</dc:title>
  <dc:subject>PptxGenJS Presentation</dc:subject>
  <dc:creator>PptxGenJS</dc:creator>
  <cp:lastModifiedBy>Pritom Nath</cp:lastModifiedBy>
  <cp:revision>3</cp:revision>
  <dcterms:created xsi:type="dcterms:W3CDTF">2026-05-17T15:34:40Z</dcterms:created>
  <dcterms:modified xsi:type="dcterms:W3CDTF">2026-05-26T10:56:17Z</dcterms:modified>
</cp:coreProperties>
</file>